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c7f3f96e26499c" /><Relationship Type="http://schemas.openxmlformats.org/officeDocument/2006/relationships/extended-properties" Target="/docProps/app.xml" Id="Rf6c58222c4b34182" /><Relationship Type="http://schemas.openxmlformats.org/officeDocument/2006/relationships/officeDocument" Target="/ppt/presentation.xml" Id="R8555891ff0ff4e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5c6516208e4548"/>
  </p:sldMasterIdLst>
  <p:notesMasterIdLst>
    <p:notesMasterId xmlns:r="http://schemas.openxmlformats.org/officeDocument/2006/relationships" r:id="R763d46cce3cc44b3"/>
  </p:notesMasterIdLst>
  <p:sldIdLst>
    <p:sldId xmlns:r="http://schemas.openxmlformats.org/officeDocument/2006/relationships" id="256" r:id="R5fa638f12b6b4f7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ae1b5cb5e546d4" /><Relationship Type="http://schemas.openxmlformats.org/officeDocument/2006/relationships/slideMaster" Target="/ppt/slideMasters/slideMaster1.xml" Id="R0b5c6516208e4548" /><Relationship Type="http://schemas.openxmlformats.org/officeDocument/2006/relationships/notesMaster" Target="/ppt/notesMasters/notesMaster1.xml" Id="R763d46cce3cc44b3" /><Relationship Type="http://schemas.openxmlformats.org/officeDocument/2006/relationships/presProps" Target="/ppt/presProps.xml" Id="R4b54a538e9694430" /><Relationship Type="http://schemas.openxmlformats.org/officeDocument/2006/relationships/tableStyles" Target="/ppt/tableStyles.xml" Id="R3e92e125770a4d8d" /><Relationship Type="http://schemas.openxmlformats.org/officeDocument/2006/relationships/slide" Target="/ppt/slides/slide1.xml" Id="R5fa638f12b6b4f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692267ea2145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5517536d2d45bb" /><Relationship Type="http://schemas.openxmlformats.org/officeDocument/2006/relationships/notesMaster" Target="/ppt/notesMasters/notesMaster1.xml" Id="Rd50616ec852544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/Users/sandeepkapoor/Documents/my resume/MultiAgent_Insurance_Foundry_Assignment.docx. Proposed architecture, not a deployed implementation. The local Python application creates four Foundry agents and registers three custom function tools with JSON schemas. Function execution and deterministic orchestration run locally. Supervisor routes both full-batch and follow-up requests. The routine handles intake validation, coverage/anomaly review and adjuster briefing. Invalid input triggers a correction checkpoint. Flagged cases and final recommended actions go through human review before execution. The application calls check_coverage with the mock coverage dataset, and the anomaly agent uses retrieved underwriting rules and fraud patterns. get_claim_history reads persistent JSON history for briefing; the local application writes accepted results after review. Conversation context uses a session/thread, while persisted history survives separate runs. The three resource arrows show primary consumers, not every access path; coverage data also feeds check_coverage. Agent results return to the supervisor, then the local application and claims handler. Console logging covers decisions and tool calls; errors and timeouts return a controlled status. No real claims data is used. Hosting the whole application in Azure is not required by this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1bc09102c74c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678d99649147c7" /><Relationship Type="http://schemas.openxmlformats.org/officeDocument/2006/relationships/slideLayout" Target="/ppt/slideLayouts/slideLayout1.xml" Id="R7bc5e87127874e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c5e87127874e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5574f67da4e34" /><Relationship Type="http://schemas.openxmlformats.org/officeDocument/2006/relationships/notesSlide" Target="/ppt/notesSlides/notesSlide1.xml" Id="R979f78573c3741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EEEC0C-1B7A-4BEB-B8A4-3A3FDACD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Insurance claims triage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6ED05-80DC-48EF-A352-A3D4141D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478"/>
                </a:solidFill>
                <a:latin typeface="Helvetica Neue"/>
                <a:ea typeface="Helvetica Neue"/>
                <a:cs typeface="Helvetica Neue"/>
              </a:rPr>
              <a:t>Proposed design for the assignment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B0E98-1884-44CB-A84E-C52FB422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29527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CCD8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50344-213A-4033-8D99-FC946E31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6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478"/>
                </a:solidFill>
                <a:latin typeface="Helvetica Neue"/>
                <a:ea typeface="Helvetica Neue"/>
                <a:cs typeface="Helvetica Neue"/>
              </a:rPr>
              <a:t>LOCAL APPLICATION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57423-756F-4D73-9416-BAE82D89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324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C9AAD-B1BB-4328-9F5A-9492F273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288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Claims handler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2B476-2FDC-41CC-B46F-7671C70A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194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Batch upload or</a:t>
            </a:r>
          </a:p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follow-up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E7CA1-0868-45D6-B115-F6D5650E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2476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324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52ED8-F098-499F-91DE-7DF2BB8A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481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Python 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36E85-4CBA-42E0-B7B3-4FC08859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38650"/>
            <a:ext cx="2133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SDK orchestration</a:t>
            </a:r>
          </a:p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Custom tool execution</a:t>
            </a:r>
          </a:p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Logs, retries and errors</a:t>
            </a:r>
          </a:p>
        </p:txBody>
      </p:sp>
      <p:cxnSp>
        <p:nvCxnSpPr>
          <p:cNvPr id="64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952625" y="33337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8D4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7F827-EDEF-4758-8C12-1A5DAE28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66850"/>
            <a:ext cx="109537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D"/>
          </a:solidFill>
          <a:ln xmlns:a="http://schemas.openxmlformats.org/drawingml/2006/main" w="14288">
            <a:solidFill>
              <a:srgbClr val="B5D5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01136-931E-4A3D-BD15-1C734DD7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60972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8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78D4"/>
                </a:solidFill>
                <a:latin typeface="Helvetica Neue"/>
                <a:ea typeface="Helvetica Neue"/>
                <a:cs typeface="Helvetica Neue"/>
              </a:rPr>
              <a:t>AZURE AI FOUNDRY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5687D-C4DB-4F1A-8D7D-CF7AEEB7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6097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478"/>
                </a:solidFill>
                <a:latin typeface="Helvetica Neue"/>
                <a:ea typeface="Helvetica Neue"/>
                <a:cs typeface="Helvetica Neue"/>
              </a:rPr>
              <a:t>Agent Service + model deployment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390D1-F934-4B75-B921-CEEBD73D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14550"/>
            <a:ext cx="6477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8D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E717DC-975D-4747-8FFE-75EF38DF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47900"/>
            <a:ext cx="613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8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78D4"/>
                </a:solidFill>
                <a:latin typeface="Helvetica Neue"/>
                <a:ea typeface="Helvetica Neue"/>
                <a:cs typeface="Helvetica Neue"/>
              </a:rPr>
              <a:t>Supervisor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74CB4-8FA9-4E3C-B392-E7E8AACB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38450"/>
            <a:ext cx="613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Routes requests and coordinates a deterministic routine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E0A874-0E9A-49CF-97C5-79C7FB8B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1145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C7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A4F076-3B3E-4415-8F2D-68DF7672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247900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7C78"/>
                </a:solidFill>
                <a:latin typeface="Helvetica Neue"/>
                <a:ea typeface="Helvetica Neue"/>
                <a:cs typeface="Helvetica Neue"/>
              </a:rPr>
              <a:t>Conversation memory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AE5E9C-BC35-455F-9ABB-EB11F1A8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8384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Thread context across turns</a:t>
            </a:r>
          </a:p>
        </p:txBody>
      </p:sp>
      <p:cxnSp>
        <p:nvCxnSpPr>
          <p:cNvPr id="74" name=""/>
          <p:cNvCxnSpPr>
            <a:stCxn xmlns:a="http://schemas.openxmlformats.org/drawingml/2006/main" id="8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3190875" y="2724150"/>
            <a:ext cx="1000125" cy="18669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8D4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0668000" y="27241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37C78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9C735B-00BC-4640-A72F-A257201F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14775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8D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1E569-0528-4C09-A9E2-2178A4AD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48125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8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78D4"/>
                </a:solidFill>
                <a:latin typeface="Helvetica Neue"/>
                <a:ea typeface="Helvetica Neue"/>
                <a:cs typeface="Helvetica Neue"/>
              </a:rPr>
              <a:t>1  Intake &amp; 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1BBB6A-E96B-476D-8B3D-E1EC418B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38675"/>
            <a:ext cx="2800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Required fields, dates,</a:t>
            </a:r>
          </a:p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policies and duplicates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Tool: validate_claims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F3D7A2-18FD-4018-9DD1-CAE0C60F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14775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8D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4A1698-A990-446B-A7F0-BBE1323D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48125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8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78D4"/>
                </a:solidFill>
                <a:latin typeface="Helvetica Neue"/>
                <a:ea typeface="Helvetica Neue"/>
                <a:cs typeface="Helvetica Neue"/>
              </a:rPr>
              <a:t>2  Anomaly &amp; Coverage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52FB88-9A0B-4ABC-9EE3-BA71F8C0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38675"/>
            <a:ext cx="2800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Coverage, limits, active dates</a:t>
            </a:r>
          </a:p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and retrieved risk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Tool: check_coverage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B731E0-10DB-4787-B3BC-29D7F06B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914775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8D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7AA2D4-C348-43AD-A392-5F77DD34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048125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8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78D4"/>
                </a:solidFill>
                <a:latin typeface="Helvetica Neue"/>
                <a:ea typeface="Helvetica Neue"/>
                <a:cs typeface="Helvetica Neue"/>
              </a:rPr>
              <a:t>3  Adjuster Briefing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099C27-06E7-4AAA-AC98-6BDF71B2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638675"/>
            <a:ext cx="2800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Evidence, prior history and</a:t>
            </a:r>
          </a:p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recommended next 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Tool: get_claim_history</a:t>
            </a:r>
          </a:p>
        </p:txBody>
      </p:sp>
      <p:cxnSp>
        <p:nvCxnSpPr>
          <p:cNvPr id="85" name=""/>
          <p:cNvCxnSpPr>
            <a:stCxn xmlns:a="http://schemas.openxmlformats.org/drawingml/2006/main" id="15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5762625" y="3333750"/>
            <a:ext cx="1666875" cy="581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8D4"/>
            </a:solidFill>
            <a:prstDash val="solid"/>
            <a:head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334250" y="48196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8D4"/>
            </a:solidFill>
            <a:prstDash val="solid"/>
            <a:head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26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10858500" y="48196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8D4"/>
            </a:solidFill>
            <a:prstDash val="solid"/>
            <a:head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D7BE84-1246-48F6-8747-9C9E80E3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956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478"/>
                </a:solidFill>
                <a:latin typeface="Helvetica Neue"/>
                <a:ea typeface="Helvetica Neue"/>
                <a:cs typeface="Helvetica Neue"/>
              </a:rPr>
              <a:t>Explicit sequence with validation and human review checkpoints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5C74DD-03AD-4147-A0C0-9E0606F4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791325"/>
            <a:ext cx="31432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52647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915452-1223-41FE-B9C0-85FD33E5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924675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26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26478"/>
                </a:solidFill>
                <a:latin typeface="Helvetica Neue"/>
                <a:ea typeface="Helvetica Neue"/>
                <a:cs typeface="Helvetica Neue"/>
              </a:rPr>
              <a:t>Synthetic input 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252D59-4375-4DEB-A39F-71C80095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7515225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claims.json</a:t>
            </a:r>
          </a:p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policy_coverage.json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D6FD34-8B2B-414A-8BE9-BC753FE0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791325"/>
            <a:ext cx="31432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6"/>
          </a:solidFill>
          <a:ln xmlns:a="http://schemas.openxmlformats.org/drawingml/2006/main" w="14288">
            <a:solidFill>
              <a:srgbClr val="137C7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5E0F7E-26B1-4ABF-A16A-4EC13445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924675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7C78"/>
                </a:solidFill>
                <a:latin typeface="Helvetica Neue"/>
                <a:ea typeface="Helvetica Neue"/>
                <a:cs typeface="Helvetica Neue"/>
              </a:rPr>
              <a:t>Knowledge retrieval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A7DD36-923D-4D11-8619-CD03945F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515225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File search / vector store</a:t>
            </a:r>
          </a:p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Underwriting rules + patterns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C91DC8-8534-448B-872A-2639A374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791325"/>
            <a:ext cx="31432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6"/>
          </a:solidFill>
          <a:ln xmlns:a="http://schemas.openxmlformats.org/drawingml/2006/main" w="14288">
            <a:solidFill>
              <a:srgbClr val="137C78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E252FE-9ABF-47F2-AC43-136F6EAA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924675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7C78"/>
                </a:solidFill>
                <a:latin typeface="Helvetica Neue"/>
                <a:ea typeface="Helvetica Neue"/>
                <a:cs typeface="Helvetica Neue"/>
              </a:rPr>
              <a:t>Persistent memory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FFD890-E771-4E35-9F28-1F373DA2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7515225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Local JSON claim history</a:t>
            </a:r>
          </a:p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Read / write across runs</a:t>
            </a:r>
          </a:p>
        </p:txBody>
      </p:sp>
      <p:cxnSp>
        <p:nvCxnSpPr>
          <p:cNvPr id="98" name=""/>
          <p:cNvCxnSpPr>
            <a:stCxn xmlns:a="http://schemas.openxmlformats.org/drawingml/2006/main" id="36" idx="0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5762625" y="5724525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37C78"/>
            </a:solidFill>
            <a:prstDash val="dash"/>
            <a:head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39" idx="0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V="1">
            <a:off x="9286875" y="5724525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37C78"/>
            </a:solidFill>
            <a:prstDash val="dash"/>
            <a:head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42" idx="0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V="1">
            <a:off x="12811125" y="5724525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37C78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16EB8A-253C-4AEB-A60E-6E5850A4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6381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6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478"/>
                </a:solidFill>
                <a:latin typeface="Helvetica Neue"/>
                <a:ea typeface="Helvetica Neue"/>
                <a:cs typeface="Helvetica Neue"/>
              </a:rPr>
              <a:t>Local data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645546-3ED3-4733-9174-D1AA0B8E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63817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7C78"/>
                </a:solidFill>
                <a:latin typeface="Helvetica Neue"/>
                <a:ea typeface="Helvetica Neue"/>
                <a:cs typeface="Helvetica Neue"/>
              </a:rPr>
              <a:t>Grounded evidence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4734D7-8B68-4DC3-AAC7-5DC21C56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81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7C78"/>
                </a:solidFill>
                <a:latin typeface="Helvetica Neue"/>
                <a:ea typeface="Helvetica Neue"/>
                <a:cs typeface="Helvetica Neue"/>
              </a:rPr>
              <a:t>Long-term context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36C522-08D6-44BB-8440-DB084C3C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62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9A6200"/>
                </a:solidFill>
                <a:latin typeface="Helvetica Neue"/>
                <a:ea typeface="Helvetica Neue"/>
                <a:cs typeface="Helvetica Neue"/>
              </a:rPr>
              <a:t>HUMAN REVIEW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8C0AB0C-DB13-43EE-B6BB-B114DA25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05625"/>
            <a:ext cx="2952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Correct invalid claims</a:t>
            </a:r>
          </a:p>
          <a:p xmlns:a="http://schemas.openxmlformats.org/drawingml/2006/main">
            <a:pPr>
              <a:defRPr sz="18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Review flagged cases</a:t>
            </a:r>
          </a:p>
          <a:p xmlns:a="http://schemas.openxmlformats.org/drawingml/2006/main">
            <a:pPr>
              <a:defRPr sz="18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Confirm the next action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AFD9E1-276E-48CB-A6A4-32F731F0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220075"/>
            <a:ext cx="1419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478"/>
                </a:solidFill>
                <a:latin typeface="Helvetica Neue"/>
                <a:ea typeface="Helvetica Neue"/>
                <a:cs typeface="Helvetica Neue"/>
              </a:rPr>
              <a:t>All four agents and tool schemas are created in code. The local routine enforces checkpoints and persists outcomes.</a:t>
            </a:r>
          </a:p>
        </p:txBody>
      </p:sp>
    </p:spTree>
    <p:extLst>
      <p:ext uri="{BB962C8B-B14F-4D97-AF65-F5344CB8AC3E}">
        <p14:creationId xmlns:p14="http://schemas.microsoft.com/office/powerpoint/2010/main" val="1025560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2026-10-06T10:17:41.3720000Z</dcterms:created>
  <dcterms:modified xsi:type="dcterms:W3CDTF">2026-10-06T10:17:41.3720000Z</dcterms:modified>
</coreProperties>
</file>